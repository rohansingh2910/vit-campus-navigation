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154f49411d42ca" /><Relationship Type="http://schemas.openxmlformats.org/officeDocument/2006/relationships/extended-properties" Target="/docProps/app.xml" Id="Rd8ccc367f10242c4" /><Relationship Type="http://schemas.openxmlformats.org/officeDocument/2006/relationships/officeDocument" Target="/ppt/presentation.xml" Id="Rfcafdb4618f64393" /></Relationships>
</file>

<file path=ppt/presentation.xml><?xml version="1.0" encoding="utf-8"?>
<p:presentation xmlns:p="http://schemas.openxmlformats.org/presentationml/2006/main">
  <p:sldMasterIdLst>
    <p:sldMasterId xmlns:r="http://schemas.openxmlformats.org/officeDocument/2006/relationships" id="2147483648" r:id="R0a7e19cf06a742ce"/>
  </p:sldMasterIdLst>
  <p:notesMasterIdLst>
    <p:notesMasterId xmlns:r="http://schemas.openxmlformats.org/officeDocument/2006/relationships" r:id="R3105caccecbb4b3a"/>
  </p:notesMasterIdLst>
  <p:sldIdLst>
    <p:sldId xmlns:r="http://schemas.openxmlformats.org/officeDocument/2006/relationships" id="256" r:id="Ra16e8b531ebc405e"/>
    <p:sldId xmlns:r="http://schemas.openxmlformats.org/officeDocument/2006/relationships" id="257" r:id="R2d737ce79abc42e4"/>
    <p:sldId xmlns:r="http://schemas.openxmlformats.org/officeDocument/2006/relationships" id="258" r:id="R55b06640a48c4cfb"/>
    <p:sldId xmlns:r="http://schemas.openxmlformats.org/officeDocument/2006/relationships" id="259" r:id="R55825f2ea59742e4"/>
    <p:sldId xmlns:r="http://schemas.openxmlformats.org/officeDocument/2006/relationships" id="260" r:id="R7e5697dbbb8047de"/>
    <p:sldId xmlns:r="http://schemas.openxmlformats.org/officeDocument/2006/relationships" id="261" r:id="R98caea0de9cd45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f355829db844b4" /><Relationship Type="http://schemas.openxmlformats.org/officeDocument/2006/relationships/slideMaster" Target="/ppt/slideMasters/slideMaster1.xml" Id="R0a7e19cf06a742ce" /><Relationship Type="http://schemas.openxmlformats.org/officeDocument/2006/relationships/notesMaster" Target="/ppt/notesMasters/notesMaster1.xml" Id="R3105caccecbb4b3a" /><Relationship Type="http://schemas.openxmlformats.org/officeDocument/2006/relationships/presProps" Target="/ppt/presProps.xml" Id="Rf9197f1d029d4f9e" /><Relationship Type="http://schemas.openxmlformats.org/officeDocument/2006/relationships/tableStyles" Target="/ppt/tableStyles.xml" Id="R7ede84ae240f483d" /><Relationship Type="http://schemas.openxmlformats.org/officeDocument/2006/relationships/slide" Target="/ppt/slides/slide1.xml" Id="Ra16e8b531ebc405e" /><Relationship Type="http://schemas.openxmlformats.org/officeDocument/2006/relationships/slide" Target="/ppt/slides/slide2.xml" Id="R2d737ce79abc42e4" /><Relationship Type="http://schemas.openxmlformats.org/officeDocument/2006/relationships/slide" Target="/ppt/slides/slide3.xml" Id="R55b06640a48c4cfb" /><Relationship Type="http://schemas.openxmlformats.org/officeDocument/2006/relationships/slide" Target="/ppt/slides/slide4.xml" Id="R55825f2ea59742e4" /><Relationship Type="http://schemas.openxmlformats.org/officeDocument/2006/relationships/slide" Target="/ppt/slides/slide5.xml" Id="R7e5697dbbb8047de" /><Relationship Type="http://schemas.openxmlformats.org/officeDocument/2006/relationships/slide" Target="/ppt/slides/slide6.xml" Id="R98caea0de9cd45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40ccee7df244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2fe31159bb4a07" /><Relationship Type="http://schemas.openxmlformats.org/officeDocument/2006/relationships/notesMaster" Target="/ppt/notesMasters/notesMaster1.xml" Id="R2f19063393ff47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1b0f62dd32472a" /><Relationship Type="http://schemas.openxmlformats.org/officeDocument/2006/relationships/notesMaster" Target="/ppt/notesMasters/notesMaster1.xml" Id="Rb8416e7aafb440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fc3a45b079456e" /><Relationship Type="http://schemas.openxmlformats.org/officeDocument/2006/relationships/notesMaster" Target="/ppt/notesMasters/notesMaster1.xml" Id="R04b60d05309e42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cca9edeea24456" /><Relationship Type="http://schemas.openxmlformats.org/officeDocument/2006/relationships/notesMaster" Target="/ppt/notesMasters/notesMaster1.xml" Id="Rc5a0c196207d4a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6c94433e5c4ceb" /><Relationship Type="http://schemas.openxmlformats.org/officeDocument/2006/relationships/notesMaster" Target="/ppt/notesMasters/notesMaster1.xml" Id="R03a34747d5b44c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06a9e7b43c4338" /><Relationship Type="http://schemas.openxmlformats.org/officeDocument/2006/relationships/notesMaster" Target="/ppt/notesMasters/notesMaster1.xml" Id="R44ce8d85e6bf42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given a weighted campus graph, find a least-cost route and measure how heuristic choice changes search. Supplied proposal is the source of title, course and team IDs. This is an AI-assisted implementation draft, disclosed on slide 6 and in the report. No AI service runs the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Campus-Map.jpg, Office of Students Welfare, VIT Vellore. Nodes are manually approximated road access points. Example route from Main Gate to SJT costs 1384.495 estimated model metres, 24 expansions. No surveyed distance scale exists in the image. Default scale 1 model metre per reference pixel. Railway links are explicit subways, and no graph arc crosses the lake. Formal definitions and caveats appear in report sections 2-3. This version uses terminal output and comparison tables only. Run the step 6 file normally to enter start and goal. No plotting packages are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frontier.pop and candidate &lt; best_g in step04_astar_Nimisha.py. Heap code is in step02_heap_Rohan.py with no heapq. The goal is tested after pop. Lazy decrease-key skips obsolete entries, and a cheaper cost can reopen an expanded node. Valid successor generations count as expansions, excluding the goal pop. Sources: UC Berkeley https://inst.eecs.berkeley.edu/~cs188/textbook/search/informed.html and AIMA https://aima.cs.berkeley.edu/slides-pdf/chapter04a.pdf. UCS is mathematically A* with h=0.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 guarantees require the validated finite positive-cost graph and costs no shorter than Euclidean displacement. Triangle inequality proves consistency. Scaled Manhattan is a metric and never exceeds Euclidean, hence consistency follows from the same edge bound. Raw Manhattan is experimental, matching the proposal while correcting its interpretation. Counterexample: S=(0,0), A=(1,1), G=(2,2); S-A=1.415, A-G=1.415, S-G=3. Raw Manhattan returns 3 although 2.83 is optimal. Source for search concepts: UC Berkeley CS188 informed-search page. Proofs and the counterexample are in report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source: output/experiment.json and benchmark_queries.csv from the executed baseline experiment, no closures, illustrative scale=1, Python 3.14.7. Gap=100*(returned/oracle cost - 1). All 50 queries reached the goal. Cost correctness is checked with an independent Floyd-Warshall implementation. The mean gap is the mean of per-query percentages, not the ratio of mean costs. Greedy worst gap 70.018%, raw Manhattan worst gap 4.277%. UCS and safe A* mean route costs 997.549 model metres. Expansion reductions are stable for fixed graph/tie order, while sub-millisecond timing differences are hardware 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command: python3 step06_run_Tanishq.py --verify --benchmark --start MAIN_GATE --goal SJT. Run without Python -O because verification uses assertions. For unreachable: --close MAIN_GATE:MGR. Road closures remove both directions. Use --output output/closure_demo to preserve the submission snapshot. Team files identify assigned review responsibilities, not independent authorship. The professor requires everyone to explain the entire AI core. Keep the declaration in the final submission. References and scope come from supplied professor guidelines, proposal, map, the CS188 informed-search page and AIMA informed-search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5fd84fb0cd4f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4ff7df904540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2b416971e247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38af0024f24f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3d1d091c9341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584cd68db44b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2E897E-7990-4A51-8739-92B274E2C2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D760DD-7865-4291-9E3F-4B73B4A6FD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9CF560-76F7-45A3-801D-65CD996726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8C6F12-A0F7-4B2B-AC07-13D0FF9666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0E59F1-C100-4EEC-AD23-AFDD7368AE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A94DC3-24BC-4F62-B2A6-75813C5C42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340695-2203-41A8-84CE-A5B6397B1E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4ECA26-7792-4C91-9BAD-C9CBF877DA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5B42D3-0F74-4C7C-9A50-6D3707D05F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2A7DDF-60B5-49ED-8EB1-E9BCB56E9C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08633c3a60475f" /><Relationship Type="http://schemas.openxmlformats.org/officeDocument/2006/relationships/slideLayout" Target="/ppt/slideLayouts/slideLayout1.xml" Id="R3150827d00df4336" /><Relationship Type="http://schemas.openxmlformats.org/officeDocument/2006/relationships/slideLayout" Target="/ppt/slideLayouts/slideLayout2.xml" Id="Rea0a5d46c7f043f2" /><Relationship Type="http://schemas.openxmlformats.org/officeDocument/2006/relationships/slideLayout" Target="/ppt/slideLayouts/slideLayout3.xml" Id="R6bc4324a57ad466e" /><Relationship Type="http://schemas.openxmlformats.org/officeDocument/2006/relationships/slideLayout" Target="/ppt/slideLayouts/slideLayout4.xml" Id="Rb1a079cb8f794a8e" /><Relationship Type="http://schemas.openxmlformats.org/officeDocument/2006/relationships/slideLayout" Target="/ppt/slideLayouts/slideLayout5.xml" Id="Rfc1c0fb774084fd7" /><Relationship Type="http://schemas.openxmlformats.org/officeDocument/2006/relationships/slideLayout" Target="/ppt/slideLayouts/slideLayout6.xml" Id="Rf957120f580147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50827d00df4336"/>
    <p:sldLayoutId xmlns:r="http://schemas.openxmlformats.org/officeDocument/2006/relationships" id="2147483650" r:id="Rea0a5d46c7f043f2"/>
    <p:sldLayoutId xmlns:r="http://schemas.openxmlformats.org/officeDocument/2006/relationships" id="2147483651" r:id="R6bc4324a57ad466e"/>
    <p:sldLayoutId xmlns:r="http://schemas.openxmlformats.org/officeDocument/2006/relationships" id="2147483652" r:id="Rb1a079cb8f794a8e"/>
    <p:sldLayoutId xmlns:r="http://schemas.openxmlformats.org/officeDocument/2006/relationships" id="2147483653" r:id="Rfc1c0fb774084fd7"/>
    <p:sldLayoutId xmlns:r="http://schemas.openxmlformats.org/officeDocument/2006/relationships" id="2147483654" r:id="Rf957120f580147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812d2629ee4095" /><Relationship Type="http://schemas.openxmlformats.org/officeDocument/2006/relationships/notesSlide" Target="/ppt/notesSlides/notesSlide1.xml" Id="R8d1228080c4b4d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2ac559320049d8" /><Relationship Type="http://schemas.openxmlformats.org/officeDocument/2006/relationships/notesSlide" Target="/ppt/notesSlides/notesSlide2.xml" Id="R96dfe018d12d46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8b68bce2654773" /><Relationship Type="http://schemas.openxmlformats.org/officeDocument/2006/relationships/notesSlide" Target="/ppt/notesSlides/notesSlide3.xml" Id="Ra03c1eb053404a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17f5e516b4404d" /><Relationship Type="http://schemas.openxmlformats.org/officeDocument/2006/relationships/notesSlide" Target="/ppt/notesSlides/notesSlide4.xml" Id="Rd2750f5f9a0540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9d17a295cd4588" /><Relationship Type="http://schemas.openxmlformats.org/officeDocument/2006/relationships/notesSlide" Target="/ppt/notesSlides/notesSlide5.xml" Id="R7f6f93d296614a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57f1c5151c4800" /><Relationship Type="http://schemas.openxmlformats.org/officeDocument/2006/relationships/notesSlide" Target="/ppt/notesSlides/notesSlide6.xml" Id="R1ec0aea7fad3407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8D4928-6A76-4035-A5D5-960B54811E39}"/>
              </a:ext>
            </a:extLst>
          </p:cNvPr>
          <p:cNvSpPr>
            <a:spLocks xmlns:a="http://schemas.openxmlformats.org/drawingml/2006/main" noGrp="1"/>
          </p:cNvSpPr>
          <p:nvPr/>
        </p:nvSpPr>
        <p:spPr>
          <a:xfrm xmlns:a="http://schemas.openxmlformats.org/drawingml/2006/main">
            <a:off x="609600" y="76200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6324F"/>
                </a:solidFill>
                <a:latin typeface="DejaVu Sans"/>
                <a:ea typeface="DejaVu Sans"/>
                <a:cs typeface="DejaVu Sans"/>
              </a:defRPr>
            </a:defPPr>
          </a:lstStyle>
          <a:p xmlns:a="http://schemas.openxmlformats.org/drawingml/2006/main">
            <a:pPr>
              <a:buNone/>
              <a:defRPr sz="4800" b="1">
                <a:solidFill>
                  <a:srgbClr val="16324F"/>
                </a:solidFill>
                <a:latin typeface="DejaVu Sans"/>
                <a:ea typeface="DejaVu Sans"/>
                <a:cs typeface="DejaVu Sans"/>
              </a:defRPr>
            </a:pPr>
            <a:r>
              <a:rPr sz="4800" b="1">
                <a:solidFill>
                  <a:srgbClr val="16324F"/>
                </a:solidFill>
                <a:latin typeface="DejaVu Sans"/>
                <a:ea typeface="DejaVu Sans"/>
                <a:cs typeface="DejaVu Sans"/>
              </a:rPr>
              <a:t>Multi-Heuristic A*</a:t>
            </a:r>
          </a:p>
          <a:p xmlns:a="http://schemas.openxmlformats.org/drawingml/2006/main">
            <a:pPr>
              <a:buNone/>
              <a:defRPr sz="4800" b="1">
                <a:solidFill>
                  <a:srgbClr val="16324F"/>
                </a:solidFill>
                <a:latin typeface="DejaVu Sans"/>
                <a:ea typeface="DejaVu Sans"/>
                <a:cs typeface="DejaVu Sans"/>
              </a:defRPr>
            </a:pPr>
            <a:r>
              <a:rPr sz="4800" b="1">
                <a:solidFill>
                  <a:srgbClr val="16324F"/>
                </a:solidFill>
                <a:latin typeface="DejaVu Sans"/>
                <a:ea typeface="DejaVu Sans"/>
                <a:cs typeface="DejaVu Sans"/>
              </a:rPr>
              <a:t>Campus Navigation</a:t>
            </a:r>
          </a:p>
        </p:txBody>
      </p:sp>
      <p:sp>
        <p:nvSpPr>
          <p:cNvPr id="2" name="">
            <a:extLst xmlns:a="http://schemas.openxmlformats.org/drawingml/2006/main">
              <a:ext uri="{FF2B5EF4-FFF2-40B4-BE49-F238E27FC236}">
                <a16:creationId xmlns:a16="http://schemas.microsoft.com/office/drawing/2014/main" id="{35C2D520-BF3F-4A6C-8375-0A2828BC6BDC}"/>
              </a:ext>
            </a:extLst>
          </p:cNvPr>
          <p:cNvSpPr>
            <a:spLocks xmlns:a="http://schemas.openxmlformats.org/drawingml/2006/main" noGrp="1"/>
          </p:cNvSpPr>
          <p:nvPr/>
        </p:nvSpPr>
        <p:spPr>
          <a:xfrm xmlns:a="http://schemas.openxmlformats.org/drawingml/2006/main">
            <a:off x="609600" y="28956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6324F"/>
                </a:solidFill>
                <a:latin typeface="DejaVu Sans"/>
                <a:ea typeface="DejaVu Sans"/>
                <a:cs typeface="DejaVu Sans"/>
              </a:defRPr>
            </a:defPPr>
          </a:lstStyle>
          <a:p xmlns:a="http://schemas.openxmlformats.org/drawingml/2006/main">
            <a:pPr>
              <a:buNone/>
              <a:defRPr sz="2400" b="0">
                <a:solidFill>
                  <a:srgbClr val="16324F"/>
                </a:solidFill>
                <a:latin typeface="DejaVu Sans"/>
                <a:ea typeface="DejaVu Sans"/>
                <a:cs typeface="DejaVu Sans"/>
              </a:defRPr>
            </a:pPr>
            <a:r>
              <a:rPr sz="2400" b="0">
                <a:solidFill>
                  <a:srgbClr val="16324F"/>
                </a:solidFill>
                <a:latin typeface="DejaVu Sans"/>
                <a:ea typeface="DejaVu Sans"/>
                <a:cs typeface="DejaVu Sans"/>
              </a:rPr>
              <a:t>Optimal routes on a manually modelled VIT Vellore graph</a:t>
            </a:r>
          </a:p>
        </p:txBody>
      </p:sp>
      <p:sp>
        <p:nvSpPr>
          <p:cNvPr id="3" name="">
            <a:extLst xmlns:a="http://schemas.openxmlformats.org/drawingml/2006/main">
              <a:ext uri="{FF2B5EF4-FFF2-40B4-BE49-F238E27FC236}">
                <a16:creationId xmlns:a16="http://schemas.microsoft.com/office/drawing/2014/main" id="{272E5CD6-CCEA-4C30-910F-E147DBDA1CD6}"/>
              </a:ext>
            </a:extLst>
          </p:cNvPr>
          <p:cNvSpPr>
            <a:spLocks xmlns:a="http://schemas.openxmlformats.org/drawingml/2006/main" noGrp="1"/>
          </p:cNvSpPr>
          <p:nvPr/>
        </p:nvSpPr>
        <p:spPr>
          <a:xfrm xmlns:a="http://schemas.openxmlformats.org/drawingml/2006/main">
            <a:off x="609600" y="40195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DejaVu Sans"/>
                <a:ea typeface="DejaVu Sans"/>
                <a:cs typeface="DejaVu Sans"/>
              </a:defRPr>
            </a:defPPr>
          </a:lstStyle>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BCSE306L Artificial Intelligence</a:t>
            </a:r>
          </a:p>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Module 2: Problem Solving based on Searching</a:t>
            </a:r>
          </a:p>
        </p:txBody>
      </p:sp>
      <p:sp>
        <p:nvSpPr>
          <p:cNvPr id="4" name="">
            <a:extLst xmlns:a="http://schemas.openxmlformats.org/drawingml/2006/main">
              <a:ext uri="{FF2B5EF4-FFF2-40B4-BE49-F238E27FC236}">
                <a16:creationId xmlns:a16="http://schemas.microsoft.com/office/drawing/2014/main" id="{4911BA82-E61A-4957-A798-E7DFFC431439}"/>
              </a:ext>
            </a:extLst>
          </p:cNvPr>
          <p:cNvSpPr>
            <a:spLocks xmlns:a="http://schemas.openxmlformats.org/drawingml/2006/main" noGrp="1"/>
          </p:cNvSpPr>
          <p:nvPr/>
        </p:nvSpPr>
        <p:spPr>
          <a:xfrm xmlns:a="http://schemas.openxmlformats.org/drawingml/2006/main">
            <a:off x="609600" y="54673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latin typeface="DejaVu Sans"/>
                <a:ea typeface="DejaVu Sans"/>
                <a:cs typeface="DejaVu Sans"/>
              </a:defRPr>
            </a:defPPr>
          </a:lstStyle>
          <a:p xmlns:a="http://schemas.openxmlformats.org/drawingml/2006/main">
            <a:pPr>
              <a:buNone/>
              <a:defRPr sz="1875" b="0">
                <a:solidFill>
                  <a:srgbClr val="16324F"/>
                </a:solidFill>
                <a:latin typeface="DejaVu Sans"/>
                <a:ea typeface="DejaVu Sans"/>
                <a:cs typeface="DejaVu Sans"/>
              </a:defRPr>
            </a:pPr>
            <a:r>
              <a:rPr sz="1875" b="0">
                <a:solidFill>
                  <a:srgbClr val="16324F"/>
                </a:solidFill>
                <a:latin typeface="DejaVu Sans"/>
                <a:ea typeface="DejaVu Sans"/>
                <a:cs typeface="DejaVu Sans"/>
              </a:rPr>
              <a:t>Nimisha 24BCT0188   Rohan 24BCE0985   Ishaan 24BDS0243</a:t>
            </a:r>
          </a:p>
          <a:p xmlns:a="http://schemas.openxmlformats.org/drawingml/2006/main">
            <a:pPr>
              <a:buNone/>
              <a:defRPr sz="1875" b="0">
                <a:solidFill>
                  <a:srgbClr val="16324F"/>
                </a:solidFill>
                <a:latin typeface="DejaVu Sans"/>
                <a:ea typeface="DejaVu Sans"/>
                <a:cs typeface="DejaVu Sans"/>
              </a:defRPr>
            </a:pPr>
            <a:r>
              <a:rPr sz="1875" b="0">
                <a:solidFill>
                  <a:srgbClr val="16324F"/>
                </a:solidFill>
                <a:latin typeface="DejaVu Sans"/>
                <a:ea typeface="DejaVu Sans"/>
                <a:cs typeface="DejaVu Sans"/>
              </a:rPr>
              <a:t>Rahul 24BCE3006   Tanishq 24BCE0980</a:t>
            </a:r>
          </a:p>
        </p:txBody>
      </p:sp>
    </p:spTree>
    <p:extLst>
      <p:ext uri="{BB962C8B-B14F-4D97-AF65-F5344CB8AC3E}">
        <p14:creationId xmlns:p14="http://schemas.microsoft.com/office/powerpoint/2010/main" val="6805650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827427-5667-4C7A-AB1D-6D2AEB46C3B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DejaVu Sans"/>
                <a:ea typeface="DejaVu Sans"/>
                <a:cs typeface="DejaVu Sans"/>
              </a:defRPr>
            </a:defPPr>
          </a:lstStyle>
          <a:p xmlns:a="http://schemas.openxmlformats.org/drawingml/2006/main">
            <a:pPr>
              <a:buNone/>
              <a:defRPr sz="3300" b="1">
                <a:solidFill>
                  <a:srgbClr val="16324F"/>
                </a:solidFill>
                <a:latin typeface="DejaVu Sans"/>
                <a:ea typeface="DejaVu Sans"/>
                <a:cs typeface="DejaVu Sans"/>
              </a:defRPr>
            </a:pPr>
            <a:r>
              <a:rPr sz="3300" b="1">
                <a:solidFill>
                  <a:srgbClr val="16324F"/>
                </a:solidFill>
                <a:latin typeface="DejaVu Sans"/>
                <a:ea typeface="DejaVu Sans"/>
                <a:cs typeface="DejaVu Sans"/>
              </a:rPr>
              <a:t>Problem and AI formulation</a:t>
            </a:r>
          </a:p>
        </p:txBody>
      </p:sp>
      <p:sp>
        <p:nvSpPr>
          <p:cNvPr id="2" name="">
            <a:extLst xmlns:a="http://schemas.openxmlformats.org/drawingml/2006/main">
              <a:ext uri="{FF2B5EF4-FFF2-40B4-BE49-F238E27FC236}">
                <a16:creationId xmlns:a16="http://schemas.microsoft.com/office/drawing/2014/main" id="{BAA1A24D-C202-4D35-82EE-477BB4F8D387}"/>
              </a:ext>
            </a:extLst>
          </p:cNvPr>
          <p:cNvSpPr>
            <a:spLocks xmlns:a="http://schemas.openxmlformats.org/drawingml/2006/main" noGrp="1"/>
          </p:cNvSpPr>
          <p:nvPr/>
        </p:nvSpPr>
        <p:spPr>
          <a:xfrm xmlns:a="http://schemas.openxmlformats.org/drawingml/2006/main">
            <a:off x="609600" y="1600200"/>
            <a:ext cx="59626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324F"/>
                </a:solidFill>
                <a:latin typeface="DejaVu Sans"/>
                <a:ea typeface="DejaVu Sans"/>
                <a:cs typeface="DejaVu Sans"/>
              </a:defRPr>
            </a:defPPr>
          </a:lstStyle>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State: road access point or junction</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Action: take an outgoing path</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Transition: move to its endpoint</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Goal test: current node = destination</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Cost: sum of positive edge distances</a:t>
            </a:r>
          </a:p>
        </p:txBody>
      </p:sp>
      <p:sp>
        <p:nvSpPr>
          <p:cNvPr id="3" name="">
            <a:extLst xmlns:a="http://schemas.openxmlformats.org/drawingml/2006/main">
              <a:ext uri="{FF2B5EF4-FFF2-40B4-BE49-F238E27FC236}">
                <a16:creationId xmlns:a16="http://schemas.microsoft.com/office/drawing/2014/main" id="{ABA3DAF4-9447-4BE5-90F3-9472348DDF81}"/>
              </a:ext>
            </a:extLst>
          </p:cNvPr>
          <p:cNvSpPr>
            <a:spLocks xmlns:a="http://schemas.openxmlformats.org/drawingml/2006/main" noGrp="1"/>
          </p:cNvSpPr>
          <p:nvPr/>
        </p:nvSpPr>
        <p:spPr>
          <a:xfrm xmlns:a="http://schemas.openxmlformats.org/drawingml/2006/main">
            <a:off x="609600" y="44767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24F"/>
                </a:solidFill>
                <a:latin typeface="DejaVu Sans"/>
                <a:ea typeface="DejaVu Sans"/>
                <a:cs typeface="DejaVu Sans"/>
              </a:defRPr>
            </a:defPPr>
          </a:lstStyle>
          <a:p xmlns:a="http://schemas.openxmlformats.org/drawingml/2006/main">
            <a:pPr>
              <a:buNone/>
              <a:defRPr sz="2175" b="1">
                <a:solidFill>
                  <a:srgbClr val="16324F"/>
                </a:solidFill>
                <a:latin typeface="DejaVu Sans"/>
                <a:ea typeface="DejaVu Sans"/>
                <a:cs typeface="DejaVu Sans"/>
              </a:defRPr>
            </a:pPr>
            <a:r>
              <a:rPr sz="2175" b="1">
                <a:solidFill>
                  <a:srgbClr val="16324F"/>
                </a:solidFill>
                <a:latin typeface="DejaVu Sans"/>
                <a:ea typeface="DejaVu Sans"/>
                <a:cs typeface="DejaVu Sans"/>
              </a:rPr>
              <a:t>52 nodes and 126 directed arcs</a:t>
            </a:r>
          </a:p>
          <a:p xmlns:a="http://schemas.openxmlformats.org/drawingml/2006/main">
            <a:pPr>
              <a:buNone/>
              <a:defRPr sz="2175" b="1">
                <a:solidFill>
                  <a:srgbClr val="16324F"/>
                </a:solidFill>
                <a:latin typeface="DejaVu Sans"/>
                <a:ea typeface="DejaVu Sans"/>
                <a:cs typeface="DejaVu Sans"/>
              </a:defRPr>
            </a:pPr>
            <a:r>
              <a:rPr sz="2175" b="1">
                <a:solidFill>
                  <a:srgbClr val="16324F"/>
                </a:solidFill>
                <a:latin typeface="DejaVu Sans"/>
                <a:ea typeface="DejaVu Sans"/>
                <a:cs typeface="DejaVu Sans"/>
              </a:rPr>
              <a:t>30 landmarks and 22 junctions</a:t>
            </a:r>
          </a:p>
        </p:txBody>
      </p:sp>
      <p:sp>
        <p:nvSpPr>
          <p:cNvPr id="4" name="">
            <a:extLst xmlns:a="http://schemas.openxmlformats.org/drawingml/2006/main">
              <a:ext uri="{FF2B5EF4-FFF2-40B4-BE49-F238E27FC236}">
                <a16:creationId xmlns:a16="http://schemas.microsoft.com/office/drawing/2014/main" id="{EFC018FC-0CE8-4F5A-95D5-488577BD646C}"/>
              </a:ext>
            </a:extLst>
          </p:cNvPr>
          <p:cNvSpPr>
            <a:spLocks xmlns:a="http://schemas.openxmlformats.org/drawingml/2006/main" noGrp="1"/>
          </p:cNvSpPr>
          <p:nvPr/>
        </p:nvSpPr>
        <p:spPr>
          <a:xfrm xmlns:a="http://schemas.openxmlformats.org/drawingml/2006/main">
            <a:off x="609600" y="56007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579"/>
                </a:solidFill>
                <a:latin typeface="DejaVu Sans"/>
                <a:ea typeface="DejaVu Sans"/>
                <a:cs typeface="DejaVu Sans"/>
              </a:defRPr>
            </a:defPPr>
          </a:lstStyle>
          <a:p xmlns:a="http://schemas.openxmlformats.org/drawingml/2006/main">
            <a:pPr>
              <a:buNone/>
              <a:defRPr sz="1875" b="0">
                <a:solidFill>
                  <a:srgbClr val="536579"/>
                </a:solidFill>
                <a:latin typeface="DejaVu Sans"/>
                <a:ea typeface="DejaVu Sans"/>
                <a:cs typeface="DejaVu Sans"/>
              </a:defRPr>
            </a:pPr>
            <a:r>
              <a:rPr sz="1875" b="0">
                <a:solidFill>
                  <a:srgbClr val="536579"/>
                </a:solidFill>
                <a:latin typeface="DejaVu Sans"/>
                <a:ea typeface="DejaVu Sans"/>
                <a:cs typeface="DejaVu Sans"/>
              </a:rPr>
              <a:t>Distances are illustrative model metres.</a:t>
            </a:r>
          </a:p>
          <a:p xmlns:a="http://schemas.openxmlformats.org/drawingml/2006/main">
            <a:pPr>
              <a:buNone/>
              <a:defRPr sz="1875" b="0">
                <a:solidFill>
                  <a:srgbClr val="536579"/>
                </a:solidFill>
                <a:latin typeface="DejaVu Sans"/>
                <a:ea typeface="DejaVu Sans"/>
                <a:cs typeface="DejaVu Sans"/>
              </a:defRPr>
            </a:pPr>
            <a:r>
              <a:rPr sz="1875" b="0">
                <a:solidFill>
                  <a:srgbClr val="536579"/>
                </a:solidFill>
                <a:latin typeface="DejaVu Sans"/>
                <a:ea typeface="DejaVu Sans"/>
                <a:cs typeface="DejaVu Sans"/>
              </a:rPr>
              <a:t>Roads and permissions need field checks.</a:t>
            </a:r>
          </a:p>
        </p:txBody>
      </p:sp>
      <p:sp>
        <p:nvSpPr>
          <p:cNvPr id="7" name="">
            <a:extLst xmlns:a="http://schemas.openxmlformats.org/drawingml/2006/main">
              <a:ext uri="{FF2B5EF4-FFF2-40B4-BE49-F238E27FC236}">
                <a16:creationId xmlns:a16="http://schemas.microsoft.com/office/drawing/2014/main" id="{193AC056-EE38-4AF5-8DDF-80FA8931AB69}"/>
              </a:ext>
            </a:extLst>
          </p:cNvPr>
          <p:cNvSpPr>
            <a:spLocks xmlns:a="http://schemas.openxmlformats.org/drawingml/2006/main" noGrp="1"/>
          </p:cNvSpPr>
          <p:nvPr/>
        </p:nvSpPr>
        <p:spPr>
          <a:xfrm xmlns:a="http://schemas.openxmlformats.org/drawingml/2006/main">
            <a:off x="6915150" y="1752600"/>
            <a:ext cx="4667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a:solidFill>
                  <a:srgbClr val="16324F"/>
                </a:solidFill>
                <a:latin typeface="DejaVu Sans"/>
                <a:ea typeface="DejaVu Sans"/>
                <a:cs typeface="DejaVu Sans"/>
              </a:defRPr>
            </a:defPPr>
          </a:lstStyle>
          <a:p xmlns:a="http://schemas.openxmlformats.org/drawingml/2006/main">
            <a:pPr>
              <a:defRPr sz="1950">
                <a:solidFill>
                  <a:srgbClr val="16324F"/>
                </a:solidFill>
                <a:latin typeface="DejaVu Sans"/>
                <a:ea typeface="DejaVu Sans"/>
                <a:cs typeface="DejaVu Sans"/>
              </a:defRPr>
            </a:pPr>
            <a:r>
              <a:rPr sz="1950">
                <a:solidFill>
                  <a:srgbClr val="16324F"/>
                </a:solidFill>
                <a:latin typeface="DejaVu Sans"/>
                <a:ea typeface="DejaVu Sans"/>
                <a:cs typeface="DejaVu Sans"/>
              </a:rPr>
              <a:t>Terminal input</a:t>
            </a:r>
          </a:p>
          <a:p xmlns:a="http://schemas.openxmlformats.org/drawingml/2006/main">
            <a:r>
              <a:t/>
            </a:r>
          </a:p>
          <a:p xmlns:a="http://schemas.openxmlformats.org/drawingml/2006/main">
            <a:pPr>
              <a:defRPr sz="1950">
                <a:solidFill>
                  <a:srgbClr val="16324F"/>
                </a:solidFill>
                <a:latin typeface="DejaVu Sans"/>
                <a:ea typeface="DejaVu Sans"/>
                <a:cs typeface="DejaVu Sans"/>
              </a:defRPr>
            </a:pPr>
            <a:r>
              <a:rPr sz="1950">
                <a:solidFill>
                  <a:srgbClr val="16324F"/>
                </a:solidFill>
                <a:latin typeface="DejaVu Sans"/>
                <a:ea typeface="DejaVu Sans"/>
                <a:cs typeface="DejaVu Sans"/>
              </a:rPr>
              <a:t>Start: LIBRARY</a:t>
            </a:r>
          </a:p>
          <a:p xmlns:a="http://schemas.openxmlformats.org/drawingml/2006/main">
            <a:pPr>
              <a:defRPr sz="1950">
                <a:solidFill>
                  <a:srgbClr val="16324F"/>
                </a:solidFill>
                <a:latin typeface="DejaVu Sans"/>
                <a:ea typeface="DejaVu Sans"/>
                <a:cs typeface="DejaVu Sans"/>
              </a:defRPr>
            </a:pPr>
            <a:r>
              <a:rPr sz="1950">
                <a:solidFill>
                  <a:srgbClr val="16324F"/>
                </a:solidFill>
                <a:latin typeface="DejaVu Sans"/>
                <a:ea typeface="DejaVu Sans"/>
                <a:cs typeface="DejaVu Sans"/>
              </a:rPr>
              <a:t>Goal: PRP</a:t>
            </a:r>
          </a:p>
          <a:p xmlns:a="http://schemas.openxmlformats.org/drawingml/2006/main">
            <a:r>
              <a:t/>
            </a:r>
          </a:p>
          <a:p xmlns:a="http://schemas.openxmlformats.org/drawingml/2006/main">
            <a:pPr>
              <a:defRPr sz="1950">
                <a:solidFill>
                  <a:srgbClr val="16324F"/>
                </a:solidFill>
                <a:latin typeface="DejaVu Sans"/>
                <a:ea typeface="DejaVu Sans"/>
                <a:cs typeface="DejaVu Sans"/>
              </a:defRPr>
            </a:pPr>
            <a:r>
              <a:rPr sz="1950">
                <a:solidFill>
                  <a:srgbClr val="16324F"/>
                </a:solidFill>
                <a:latin typeface="DejaVu Sans"/>
                <a:ea typeface="DejaVu Sans"/>
                <a:cs typeface="DejaVu Sans"/>
              </a:rPr>
              <a:t>The program prints the route,</a:t>
            </a:r>
          </a:p>
          <a:p xmlns:a="http://schemas.openxmlformats.org/drawingml/2006/main">
            <a:pPr>
              <a:defRPr sz="1950">
                <a:solidFill>
                  <a:srgbClr val="16324F"/>
                </a:solidFill>
                <a:latin typeface="DejaVu Sans"/>
                <a:ea typeface="DejaVu Sans"/>
                <a:cs typeface="DejaVu Sans"/>
              </a:defRPr>
            </a:pPr>
            <a:r>
              <a:rPr sz="1950">
                <a:solidFill>
                  <a:srgbClr val="16324F"/>
                </a:solidFill>
                <a:latin typeface="DejaVu Sans"/>
                <a:ea typeface="DejaVu Sans"/>
                <a:cs typeface="DejaVu Sans"/>
              </a:rPr>
              <a:t>distance, expansions and time.</a:t>
            </a:r>
          </a:p>
          <a:p xmlns:a="http://schemas.openxmlformats.org/drawingml/2006/main">
            <a:r>
              <a:t/>
            </a:r>
          </a:p>
          <a:p xmlns:a="http://schemas.openxmlformats.org/drawingml/2006/main">
            <a:pPr>
              <a:defRPr sz="1950">
                <a:solidFill>
                  <a:srgbClr val="16324F"/>
                </a:solidFill>
                <a:latin typeface="DejaVu Sans"/>
                <a:ea typeface="DejaVu Sans"/>
                <a:cs typeface="DejaVu Sans"/>
              </a:defRPr>
            </a:pPr>
            <a:r>
              <a:rPr sz="1950">
                <a:solidFill>
                  <a:srgbClr val="16324F"/>
                </a:solidFill>
                <a:latin typeface="DejaVu Sans"/>
                <a:ea typeface="DejaVu Sans"/>
                <a:cs typeface="DejaVu Sans"/>
              </a:rPr>
              <a:t>Type q to finish.</a:t>
            </a:r>
          </a:p>
        </p:txBody>
      </p:sp>
    </p:spTree>
    <p:extLst>
      <p:ext uri="{BB962C8B-B14F-4D97-AF65-F5344CB8AC3E}">
        <p14:creationId xmlns:p14="http://schemas.microsoft.com/office/powerpoint/2010/main" val="20317525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9EA0B9-28C2-44D5-B075-DFE7EE7539B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DejaVu Sans"/>
                <a:ea typeface="DejaVu Sans"/>
                <a:cs typeface="DejaVu Sans"/>
              </a:defRPr>
            </a:defPPr>
          </a:lstStyle>
          <a:p xmlns:a="http://schemas.openxmlformats.org/drawingml/2006/main">
            <a:pPr>
              <a:buNone/>
              <a:defRPr sz="3300" b="1">
                <a:solidFill>
                  <a:srgbClr val="16324F"/>
                </a:solidFill>
                <a:latin typeface="DejaVu Sans"/>
                <a:ea typeface="DejaVu Sans"/>
                <a:cs typeface="DejaVu Sans"/>
              </a:defRPr>
            </a:pPr>
            <a:r>
              <a:rPr sz="3300" b="1">
                <a:solidFill>
                  <a:srgbClr val="16324F"/>
                </a:solidFill>
                <a:latin typeface="DejaVu Sans"/>
                <a:ea typeface="DejaVu Sans"/>
                <a:cs typeface="DejaVu Sans"/>
              </a:rPr>
              <a:t>A* and the custom binary heap</a:t>
            </a:r>
          </a:p>
        </p:txBody>
      </p:sp>
      <p:sp>
        <p:nvSpPr>
          <p:cNvPr id="2" name="">
            <a:extLst xmlns:a="http://schemas.openxmlformats.org/drawingml/2006/main">
              <a:ext uri="{FF2B5EF4-FFF2-40B4-BE49-F238E27FC236}">
                <a16:creationId xmlns:a16="http://schemas.microsoft.com/office/drawing/2014/main" id="{EF9E3C17-2571-4A2E-A1CB-FAA314EFEAE3}"/>
              </a:ext>
            </a:extLst>
          </p:cNvPr>
          <p:cNvSpPr>
            <a:spLocks xmlns:a="http://schemas.openxmlformats.org/drawingml/2006/main" noGrp="1"/>
          </p:cNvSpPr>
          <p:nvPr/>
        </p:nvSpPr>
        <p:spPr>
          <a:xfrm xmlns:a="http://schemas.openxmlformats.org/drawingml/2006/main">
            <a:off x="609600" y="1600200"/>
            <a:ext cx="7115175" cy="3676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24F"/>
                </a:solidFill>
                <a:latin typeface="DejaVu Sans"/>
                <a:ea typeface="DejaVu Sans"/>
                <a:cs typeface="DejaVu Sans"/>
              </a:defRPr>
            </a:defPPr>
          </a:lstStyle>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frontier.push(start, priority = h(start))</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while frontier has entries:</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pop the smallest f = g + h</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skip stale or worse entries</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if goal: reconstruct the path</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expand outgoing neighbors</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if candidate_g improves best_g:</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update cost and parent</a:t>
            </a:r>
          </a:p>
          <a:p xmlns:a="http://schemas.openxmlformats.org/drawingml/2006/main">
            <a:pPr>
              <a:buNone/>
              <a:defRPr sz="1950" b="0">
                <a:solidFill>
                  <a:srgbClr val="16324F"/>
                </a:solidFill>
                <a:latin typeface="DejaVu Sans"/>
                <a:ea typeface="DejaVu Sans"/>
                <a:cs typeface="DejaVu Sans"/>
              </a:defRPr>
            </a:pPr>
            <a:r>
              <a:rPr sz="1950" b="0">
                <a:solidFill>
                  <a:srgbClr val="16324F"/>
                </a:solidFill>
                <a:latin typeface="DejaVu Sans"/>
                <a:ea typeface="DejaVu Sans"/>
                <a:cs typeface="DejaVu Sans"/>
              </a:rPr>
              <a:t>        push candidate_g + h(neighbor)</a:t>
            </a:r>
          </a:p>
        </p:txBody>
      </p:sp>
      <p:sp>
        <p:nvSpPr>
          <p:cNvPr id="3" name="">
            <a:extLst xmlns:a="http://schemas.openxmlformats.org/drawingml/2006/main">
              <a:ext uri="{FF2B5EF4-FFF2-40B4-BE49-F238E27FC236}">
                <a16:creationId xmlns:a16="http://schemas.microsoft.com/office/drawing/2014/main" id="{75C3C711-0517-4F91-8D40-BD346DA1F311}"/>
              </a:ext>
            </a:extLst>
          </p:cNvPr>
          <p:cNvSpPr>
            <a:spLocks xmlns:a="http://schemas.openxmlformats.org/drawingml/2006/main" noGrp="1"/>
          </p:cNvSpPr>
          <p:nvPr/>
        </p:nvSpPr>
        <p:spPr>
          <a:xfrm xmlns:a="http://schemas.openxmlformats.org/drawingml/2006/main">
            <a:off x="8134350" y="1609725"/>
            <a:ext cx="34480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latin typeface="DejaVu Sans"/>
                <a:ea typeface="DejaVu Sans"/>
                <a:cs typeface="DejaVu Sans"/>
              </a:defRPr>
            </a:defPPr>
          </a:lstStyle>
          <a:p xmlns:a="http://schemas.openxmlformats.org/drawingml/2006/main">
            <a:pPr>
              <a:buNone/>
              <a:defRPr sz="2025" b="1">
                <a:solidFill>
                  <a:srgbClr val="16324F"/>
                </a:solidFill>
                <a:latin typeface="DejaVu Sans"/>
                <a:ea typeface="DejaVu Sans"/>
                <a:cs typeface="DejaVu Sans"/>
              </a:defRPr>
            </a:pPr>
            <a:r>
              <a:rPr sz="2025" b="1">
                <a:solidFill>
                  <a:srgbClr val="16324F"/>
                </a:solidFill>
                <a:latin typeface="DejaVu Sans"/>
                <a:ea typeface="DejaVu Sans"/>
                <a:cs typeface="DejaVu Sans"/>
              </a:rPr>
              <a:t>AI decision</a:t>
            </a:r>
          </a:p>
          <a:p xmlns:a="http://schemas.openxmlformats.org/drawingml/2006/main">
            <a:pPr>
              <a:buNone/>
              <a:defRPr sz="2025" b="1">
                <a:solidFill>
                  <a:srgbClr val="16324F"/>
                </a:solidFill>
                <a:latin typeface="DejaVu Sans"/>
                <a:ea typeface="DejaVu Sans"/>
                <a:cs typeface="DejaVu Sans"/>
              </a:defRPr>
            </a:pPr>
            <a:r>
              <a:rPr sz="2025" b="1">
                <a:solidFill>
                  <a:srgbClr val="16324F"/>
                </a:solidFill>
                <a:latin typeface="DejaVu Sans"/>
                <a:ea typeface="DejaVu Sans"/>
                <a:cs typeface="DejaVu Sans"/>
              </a:rPr>
              <a:t>Choose minimum g + h, then</a:t>
            </a:r>
          </a:p>
          <a:p xmlns:a="http://schemas.openxmlformats.org/drawingml/2006/main">
            <a:pPr>
              <a:buNone/>
              <a:defRPr sz="2025" b="1">
                <a:solidFill>
                  <a:srgbClr val="16324F"/>
                </a:solidFill>
                <a:latin typeface="DejaVu Sans"/>
                <a:ea typeface="DejaVu Sans"/>
                <a:cs typeface="DejaVu Sans"/>
              </a:defRPr>
            </a:pPr>
            <a:r>
              <a:rPr sz="2025" b="1">
                <a:solidFill>
                  <a:srgbClr val="16324F"/>
                </a:solidFill>
                <a:latin typeface="DejaVu Sans"/>
                <a:ea typeface="DejaVu Sans"/>
                <a:cs typeface="DejaVu Sans"/>
              </a:rPr>
              <a:t>accept a cheaper discovered route.</a:t>
            </a:r>
          </a:p>
        </p:txBody>
      </p:sp>
      <p:sp>
        <p:nvSpPr>
          <p:cNvPr id="4" name="">
            <a:extLst xmlns:a="http://schemas.openxmlformats.org/drawingml/2006/main">
              <a:ext uri="{FF2B5EF4-FFF2-40B4-BE49-F238E27FC236}">
                <a16:creationId xmlns:a16="http://schemas.microsoft.com/office/drawing/2014/main" id="{7FA601A5-C0B3-40F1-914F-6221CB4466FD}"/>
              </a:ext>
            </a:extLst>
          </p:cNvPr>
          <p:cNvSpPr>
            <a:spLocks xmlns:a="http://schemas.openxmlformats.org/drawingml/2006/main" noGrp="1"/>
          </p:cNvSpPr>
          <p:nvPr/>
        </p:nvSpPr>
        <p:spPr>
          <a:xfrm xmlns:a="http://schemas.openxmlformats.org/drawingml/2006/main">
            <a:off x="8134350" y="3905250"/>
            <a:ext cx="34480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latin typeface="DejaVu Sans"/>
                <a:ea typeface="DejaVu Sans"/>
                <a:cs typeface="DejaVu Sans"/>
              </a:defRPr>
            </a:defPPr>
          </a:lstStyle>
          <a:p xmlns:a="http://schemas.openxmlformats.org/drawingml/2006/main">
            <a:pPr>
              <a:buNone/>
              <a:defRPr sz="1875" b="0">
                <a:solidFill>
                  <a:srgbClr val="16324F"/>
                </a:solidFill>
                <a:latin typeface="DejaVu Sans"/>
                <a:ea typeface="DejaVu Sans"/>
                <a:cs typeface="DejaVu Sans"/>
              </a:defRPr>
            </a:pPr>
            <a:r>
              <a:rPr sz="1875" b="0">
                <a:solidFill>
                  <a:srgbClr val="16324F"/>
                </a:solidFill>
                <a:latin typeface="DejaVu Sans"/>
                <a:ea typeface="DejaVu Sans"/>
                <a:cs typeface="DejaVu Sans"/>
              </a:rPr>
              <a:t>Heap: explicit push/pop and sift</a:t>
            </a:r>
          </a:p>
          <a:p xmlns:a="http://schemas.openxmlformats.org/drawingml/2006/main">
            <a:pPr>
              <a:buNone/>
              <a:defRPr sz="1875" b="0">
                <a:solidFill>
                  <a:srgbClr val="16324F"/>
                </a:solidFill>
                <a:latin typeface="DejaVu Sans"/>
                <a:ea typeface="DejaVu Sans"/>
                <a:cs typeface="DejaVu Sans"/>
              </a:defRPr>
            </a:pPr>
            <a:r>
              <a:rPr sz="1875" b="0">
                <a:solidFill>
                  <a:srgbClr val="16324F"/>
                </a:solidFill>
                <a:latin typeface="DejaVu Sans"/>
                <a:ea typeface="DejaVu Sans"/>
                <a:cs typeface="DejaVu Sans"/>
              </a:rPr>
              <a:t>FIFO ties by insertion number</a:t>
            </a:r>
          </a:p>
          <a:p xmlns:a="http://schemas.openxmlformats.org/drawingml/2006/main">
            <a:pPr>
              <a:buNone/>
              <a:defRPr sz="1875" b="0">
                <a:solidFill>
                  <a:srgbClr val="16324F"/>
                </a:solidFill>
                <a:latin typeface="DejaVu Sans"/>
                <a:ea typeface="DejaVu Sans"/>
                <a:cs typeface="DejaVu Sans"/>
              </a:defRPr>
            </a:pPr>
            <a:r>
              <a:rPr sz="1875" b="0">
                <a:solidFill>
                  <a:srgbClr val="16324F"/>
                </a:solidFill>
                <a:latin typeface="DejaVu Sans"/>
                <a:ea typeface="DejaVu Sans"/>
                <a:cs typeface="DejaVu Sans"/>
              </a:rPr>
              <a:t>Lazy entries and node reopening</a:t>
            </a:r>
          </a:p>
        </p:txBody>
      </p:sp>
      <p:sp>
        <p:nvSpPr>
          <p:cNvPr id="5" name="">
            <a:extLst xmlns:a="http://schemas.openxmlformats.org/drawingml/2006/main">
              <a:ext uri="{FF2B5EF4-FFF2-40B4-BE49-F238E27FC236}">
                <a16:creationId xmlns:a16="http://schemas.microsoft.com/office/drawing/2014/main" id="{ECF82294-214C-4C0A-876F-D5595A59AAE8}"/>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DejaVu Sans"/>
                <a:ea typeface="DejaVu Sans"/>
                <a:cs typeface="DejaVu Sans"/>
              </a:defRPr>
            </a:defPPr>
          </a:lstStyle>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UCS uses the same engine with h = 0. Greedy prioritises h alone.</a:t>
            </a:r>
          </a:p>
        </p:txBody>
      </p:sp>
    </p:spTree>
    <p:extLst>
      <p:ext uri="{BB962C8B-B14F-4D97-AF65-F5344CB8AC3E}">
        <p14:creationId xmlns:p14="http://schemas.microsoft.com/office/powerpoint/2010/main" val="7010165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27176E-A534-4938-81E3-41599F0706F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DejaVu Sans"/>
                <a:ea typeface="DejaVu Sans"/>
                <a:cs typeface="DejaVu Sans"/>
              </a:defRPr>
            </a:defPPr>
          </a:lstStyle>
          <a:p xmlns:a="http://schemas.openxmlformats.org/drawingml/2006/main">
            <a:pPr>
              <a:buNone/>
              <a:defRPr sz="3300" b="1">
                <a:solidFill>
                  <a:srgbClr val="16324F"/>
                </a:solidFill>
                <a:latin typeface="DejaVu Sans"/>
                <a:ea typeface="DejaVu Sans"/>
                <a:cs typeface="DejaVu Sans"/>
              </a:defRPr>
            </a:pPr>
            <a:r>
              <a:rPr sz="3300" b="1">
                <a:solidFill>
                  <a:srgbClr val="16324F"/>
                </a:solidFill>
                <a:latin typeface="DejaVu Sans"/>
                <a:ea typeface="DejaVu Sans"/>
                <a:cs typeface="DejaVu Sans"/>
              </a:rPr>
              <a:t>Heuristics and shortest-path guarantees</a:t>
            </a:r>
          </a:p>
        </p:txBody>
      </p:sp>
      <p:graphicFrame>
        <p:nvGraphicFramePr>
          <p:cNvPr id="2" name="">
            <a:extLst xmlns:a="http://schemas.openxmlformats.org/drawingml/2006/main">
              <a:ext uri="{FF2B5EF4-FFF2-40B4-BE49-F238E27FC236}">
                <a16:creationId xmlns:a16="http://schemas.microsoft.com/office/drawing/2014/main" id="{77EC1EF9-0732-4EA5-B1D6-935763E7C33C}"/>
              </a:ext>
            </a:extLst>
          </p:cNvPr>
          <p:cNvGraphicFramePr/>
          <p:nvPr/>
        </p:nvGraphicFramePr>
        <p:xfrm>
          <a:off xmlns:a="http://schemas.openxmlformats.org/drawingml/2006/main" x="609600" y="1562100"/>
          <a:ext xmlns:a="http://schemas.openxmlformats.org/drawingml/2006/main" cx="10972800" cy="3476625"/>
        </p:xfrm>
        <a:graphic xmlns:a="http://schemas.openxmlformats.org/drawingml/2006/main">
          <a:graphicData uri="http://schemas.openxmlformats.org/drawingml/2006/table">
            <a:tbl>
              <a:tblPr/>
              <a:tblGrid>
                <a:gridCol w="4238625"/>
                <a:gridCol w="3876675"/>
                <a:gridCol w="2857500"/>
              </a:tblGrid>
              <a:tr h="579438">
                <a:tc>
                  <a:txBody>
                    <a:bodyPr/>
                    <a:lstStyle/>
                    <a:p>
                      <a:r>
                        <a:rPr sz="1875" b="1">
                          <a:solidFill>
                            <a:srgbClr val="16324F"/>
                          </a:solidFill>
                          <a:latin typeface="DejaVu Sans"/>
                          <a:ea typeface="DejaVu Sans"/>
                          <a:cs typeface="DejaVu Sans"/>
                        </a:rPr>
                        <a:t>Method</a:t>
                      </a:r>
                    </a:p>
                  </a:txBody>
                  <a:tcPr marL="114300" marR="114300" marT="114300" marB="114300">
                    <a:solidFill>
                      <a:srgbClr val="E5EDF5"/>
                    </a:solidFill>
                  </a:tcPr>
                </a:tc>
                <a:tc>
                  <a:txBody>
                    <a:bodyPr/>
                    <a:lstStyle/>
                    <a:p>
                      <a:r>
                        <a:rPr sz="1875" b="1">
                          <a:solidFill>
                            <a:srgbClr val="16324F"/>
                          </a:solidFill>
                          <a:latin typeface="DejaVu Sans"/>
                          <a:ea typeface="DejaVu Sans"/>
                          <a:cs typeface="DejaVu Sans"/>
                        </a:rPr>
                        <a:t>Priority</a:t>
                      </a:r>
                    </a:p>
                  </a:txBody>
                  <a:tcPr marL="114300" marR="114300" marT="114300" marB="114300">
                    <a:solidFill>
                      <a:srgbClr val="E5EDF5"/>
                    </a:solidFill>
                  </a:tcPr>
                </a:tc>
                <a:tc>
                  <a:txBody>
                    <a:bodyPr/>
                    <a:lstStyle/>
                    <a:p>
                      <a:r>
                        <a:rPr sz="1875" b="1">
                          <a:solidFill>
                            <a:srgbClr val="16324F"/>
                          </a:solidFill>
                          <a:latin typeface="DejaVu Sans"/>
                          <a:ea typeface="DejaVu Sans"/>
                          <a:cs typeface="DejaVu Sans"/>
                        </a:rPr>
                        <a:t>Guaranteed?</a:t>
                      </a:r>
                    </a:p>
                  </a:txBody>
                  <a:tcPr marL="114300" marR="114300" marT="114300" marB="114300">
                    <a:solidFill>
                      <a:srgbClr val="E5EDF5"/>
                    </a:solidFill>
                  </a:tcPr>
                </a:tc>
              </a:tr>
              <a:tr h="579438">
                <a:tc>
                  <a:txBody>
                    <a:bodyPr/>
                    <a:lstStyle/>
                    <a:p>
                      <a:r>
                        <a:rPr sz="1875">
                          <a:solidFill>
                            <a:srgbClr val="16324F"/>
                          </a:solidFill>
                          <a:latin typeface="DejaVu Sans"/>
                          <a:ea typeface="DejaVu Sans"/>
                          <a:cs typeface="DejaVu Sans"/>
                        </a:rPr>
                        <a:t>UCS / A* zero</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g</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Yes</a:t>
                      </a:r>
                    </a:p>
                  </a:txBody>
                  <a:tcPr marL="114300" marR="114300" marT="114300" marB="114300">
                    <a:solidFill>
                      <a:srgbClr val="FFFFFF"/>
                    </a:solidFill>
                  </a:tcPr>
                </a:tc>
              </a:tr>
              <a:tr h="579438">
                <a:tc>
                  <a:txBody>
                    <a:bodyPr/>
                    <a:lstStyle/>
                    <a:p>
                      <a:r>
                        <a:rPr sz="1875">
                          <a:solidFill>
                            <a:srgbClr val="16324F"/>
                          </a:solidFill>
                          <a:latin typeface="DejaVu Sans"/>
                          <a:ea typeface="DejaVu Sans"/>
                          <a:cs typeface="DejaVu Sans"/>
                        </a:rPr>
                        <a:t>Greedy Euclidean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h_E</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No</a:t>
                      </a:r>
                    </a:p>
                  </a:txBody>
                  <a:tcPr marL="114300" marR="114300" marT="114300" marB="114300">
                    <a:solidFill>
                      <a:srgbClr val="FFFFFF"/>
                    </a:solidFill>
                  </a:tcPr>
                </a:tc>
              </a:tr>
              <a:tr h="579438">
                <a:tc>
                  <a:txBody>
                    <a:bodyPr/>
                    <a:lstStyle/>
                    <a:p>
                      <a:r>
                        <a:rPr sz="1875">
                          <a:solidFill>
                            <a:srgbClr val="16324F"/>
                          </a:solidFill>
                          <a:latin typeface="DejaVu Sans"/>
                          <a:ea typeface="DejaVu Sans"/>
                          <a:cs typeface="DejaVu Sans"/>
                        </a:rPr>
                        <a:t>A* Euclidean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g + h_E</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Yes</a:t>
                      </a:r>
                    </a:p>
                  </a:txBody>
                  <a:tcPr marL="114300" marR="114300" marT="114300" marB="114300">
                    <a:solidFill>
                      <a:srgbClr val="FFFFFF"/>
                    </a:solidFill>
                  </a:tcPr>
                </a:tc>
              </a:tr>
              <a:tr h="579438">
                <a:tc>
                  <a:txBody>
                    <a:bodyPr/>
                    <a:lstStyle/>
                    <a:p>
                      <a:r>
                        <a:rPr sz="1875">
                          <a:solidFill>
                            <a:srgbClr val="16324F"/>
                          </a:solidFill>
                          <a:latin typeface="DejaVu Sans"/>
                          <a:ea typeface="DejaVu Sans"/>
                          <a:cs typeface="DejaVu Sans"/>
                        </a:rPr>
                        <a:t>A* scaled Manhattan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g + h_M / sqrt(2)</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Yes</a:t>
                      </a:r>
                    </a:p>
                  </a:txBody>
                  <a:tcPr marL="114300" marR="114300" marT="114300" marB="114300">
                    <a:solidFill>
                      <a:srgbClr val="FFFFFF"/>
                    </a:solidFill>
                  </a:tcPr>
                </a:tc>
              </a:tr>
              <a:tr h="579438">
                <a:tc>
                  <a:txBody>
                    <a:bodyPr/>
                    <a:lstStyle/>
                    <a:p>
                      <a:r>
                        <a:rPr sz="1875">
                          <a:solidFill>
                            <a:srgbClr val="16324F"/>
                          </a:solidFill>
                          <a:latin typeface="DejaVu Sans"/>
                          <a:ea typeface="DejaVu Sans"/>
                          <a:cs typeface="DejaVu Sans"/>
                        </a:rPr>
                        <a:t>A* raw Manhattan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g + h_M</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No</a:t>
                      </a:r>
                    </a:p>
                  </a:txBody>
                  <a:tcPr marL="114300" marR="114300" marT="1143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6484D5F-B68D-4508-B6BD-5C9C29326945}"/>
              </a:ext>
            </a:extLst>
          </p:cNvPr>
          <p:cNvSpPr>
            <a:spLocks xmlns:a="http://schemas.openxmlformats.org/drawingml/2006/main" noGrp="1"/>
          </p:cNvSpPr>
          <p:nvPr/>
        </p:nvSpPr>
        <p:spPr>
          <a:xfrm xmlns:a="http://schemas.openxmlformats.org/drawingml/2006/main">
            <a:off x="609600" y="52197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latin typeface="DejaVu Sans"/>
                <a:ea typeface="DejaVu Sans"/>
                <a:cs typeface="DejaVu Sans"/>
              </a:defRPr>
            </a:defPPr>
          </a:lstStyle>
          <a:p xmlns:a="http://schemas.openxmlformats.org/drawingml/2006/main">
            <a:pPr>
              <a:buNone/>
              <a:defRPr sz="2025" b="0">
                <a:solidFill>
                  <a:srgbClr val="16324F"/>
                </a:solidFill>
                <a:latin typeface="DejaVu Sans"/>
                <a:ea typeface="DejaVu Sans"/>
                <a:cs typeface="DejaVu Sans"/>
              </a:defRPr>
            </a:pPr>
            <a:r>
              <a:rPr sz="2025" b="0">
                <a:solidFill>
                  <a:srgbClr val="16324F"/>
                </a:solidFill>
                <a:latin typeface="DejaVu Sans"/>
                <a:ea typeface="DejaVu Sans"/>
                <a:cs typeface="DejaVu Sans"/>
              </a:rPr>
              <a:t>Euclidean: h_E = scale * sqrt(dx² + dy²)</a:t>
            </a:r>
          </a:p>
          <a:p xmlns:a="http://schemas.openxmlformats.org/drawingml/2006/main">
            <a:pPr>
              <a:buNone/>
              <a:defRPr sz="2025" b="0">
                <a:solidFill>
                  <a:srgbClr val="16324F"/>
                </a:solidFill>
                <a:latin typeface="DejaVu Sans"/>
                <a:ea typeface="DejaVu Sans"/>
                <a:cs typeface="DejaVu Sans"/>
              </a:defRPr>
            </a:pPr>
            <a:r>
              <a:rPr sz="2025" b="0">
                <a:solidFill>
                  <a:srgbClr val="16324F"/>
                </a:solidFill>
                <a:latin typeface="DejaVu Sans"/>
                <a:ea typeface="DejaVu Sans"/>
                <a:cs typeface="DejaVu Sans"/>
              </a:rPr>
              <a:t>Manhattan: h_M = scale * (|dx| + |dy|)</a:t>
            </a:r>
          </a:p>
        </p:txBody>
      </p:sp>
      <p:sp>
        <p:nvSpPr>
          <p:cNvPr id="4" name="">
            <a:extLst xmlns:a="http://schemas.openxmlformats.org/drawingml/2006/main">
              <a:ext uri="{FF2B5EF4-FFF2-40B4-BE49-F238E27FC236}">
                <a16:creationId xmlns:a16="http://schemas.microsoft.com/office/drawing/2014/main" id="{37F2D25F-C03D-4087-BB30-5C884F4F24BA}"/>
              </a:ext>
            </a:extLst>
          </p:cNvPr>
          <p:cNvSpPr>
            <a:spLocks xmlns:a="http://schemas.openxmlformats.org/drawingml/2006/main" noGrp="1"/>
          </p:cNvSpPr>
          <p:nvPr/>
        </p:nvSpPr>
        <p:spPr>
          <a:xfrm xmlns:a="http://schemas.openxmlformats.org/drawingml/2006/main">
            <a:off x="609600" y="61055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579"/>
                </a:solidFill>
                <a:latin typeface="DejaVu Sans"/>
                <a:ea typeface="DejaVu Sans"/>
                <a:cs typeface="DejaVu Sans"/>
              </a:defRPr>
            </a:defPPr>
          </a:lstStyle>
          <a:p xmlns:a="http://schemas.openxmlformats.org/drawingml/2006/main">
            <a:pPr>
              <a:buNone/>
              <a:defRPr sz="1875" b="0">
                <a:solidFill>
                  <a:srgbClr val="536579"/>
                </a:solidFill>
                <a:latin typeface="DejaVu Sans"/>
                <a:ea typeface="DejaVu Sans"/>
                <a:cs typeface="DejaVu Sans"/>
              </a:defRPr>
            </a:pPr>
            <a:r>
              <a:rPr sz="1875" b="0">
                <a:solidFill>
                  <a:srgbClr val="536579"/>
                </a:solidFill>
                <a:latin typeface="DejaVu Sans"/>
                <a:ea typeface="DejaVu Sans"/>
                <a:cs typeface="DejaVu Sans"/>
              </a:rPr>
              <a:t>Raw Manhattan can overestimate diagonal paths. Scaling restores a valid lower bound.</a:t>
            </a:r>
          </a:p>
        </p:txBody>
      </p:sp>
    </p:spTree>
    <p:extLst>
      <p:ext uri="{BB962C8B-B14F-4D97-AF65-F5344CB8AC3E}">
        <p14:creationId xmlns:p14="http://schemas.microsoft.com/office/powerpoint/2010/main" val="2128429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96E111-9BAF-472C-84C9-B0AC5C9AE5B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DejaVu Sans"/>
                <a:ea typeface="DejaVu Sans"/>
                <a:cs typeface="DejaVu Sans"/>
              </a:defRPr>
            </a:defPPr>
          </a:lstStyle>
          <a:p xmlns:a="http://schemas.openxmlformats.org/drawingml/2006/main">
            <a:pPr>
              <a:buNone/>
              <a:defRPr sz="3300" b="1">
                <a:solidFill>
                  <a:srgbClr val="16324F"/>
                </a:solidFill>
                <a:latin typeface="DejaVu Sans"/>
                <a:ea typeface="DejaVu Sans"/>
                <a:cs typeface="DejaVu Sans"/>
              </a:defRPr>
            </a:pPr>
            <a:r>
              <a:rPr sz="3300" b="1">
                <a:solidFill>
                  <a:srgbClr val="16324F"/>
                </a:solidFill>
                <a:latin typeface="DejaVu Sans"/>
                <a:ea typeface="DejaVu Sans"/>
                <a:cs typeface="DejaVu Sans"/>
              </a:rPr>
              <a:t>Measured comparison on 50 landmark pairs</a:t>
            </a:r>
          </a:p>
        </p:txBody>
      </p:sp>
      <p:graphicFrame>
        <p:nvGraphicFramePr>
          <p:cNvPr id="2" name="">
            <a:extLst xmlns:a="http://schemas.openxmlformats.org/drawingml/2006/main">
              <a:ext uri="{FF2B5EF4-FFF2-40B4-BE49-F238E27FC236}">
                <a16:creationId xmlns:a16="http://schemas.microsoft.com/office/drawing/2014/main" id="{D0C7D496-C04B-43D4-A112-79D21E45ABA7}"/>
              </a:ext>
            </a:extLst>
          </p:cNvPr>
          <p:cNvGraphicFramePr/>
          <p:nvPr/>
        </p:nvGraphicFramePr>
        <p:xfrm>
          <a:off xmlns:a="http://schemas.openxmlformats.org/drawingml/2006/main" x="609600" y="1600200"/>
          <a:ext xmlns:a="http://schemas.openxmlformats.org/drawingml/2006/main" cx="10972800" cy="3238500"/>
        </p:xfrm>
        <a:graphic xmlns:a="http://schemas.openxmlformats.org/drawingml/2006/main">
          <a:graphicData uri="http://schemas.openxmlformats.org/drawingml/2006/table">
            <a:tbl>
              <a:tblPr/>
              <a:tblGrid>
                <a:gridCol w="3762375"/>
                <a:gridCol w="1390650"/>
                <a:gridCol w="2066925"/>
                <a:gridCol w="1581150"/>
                <a:gridCol w="2171700"/>
              </a:tblGrid>
              <a:tr h="539750">
                <a:tc>
                  <a:txBody>
                    <a:bodyPr/>
                    <a:lstStyle/>
                    <a:p>
                      <a:r>
                        <a:rPr sz="1875" b="1">
                          <a:solidFill>
                            <a:srgbClr val="16324F"/>
                          </a:solidFill>
                          <a:latin typeface="DejaVu Sans"/>
                          <a:ea typeface="DejaVu Sans"/>
                          <a:cs typeface="DejaVu Sans"/>
                        </a:rPr>
                        <a:t>Algorithm</a:t>
                      </a:r>
                    </a:p>
                  </a:txBody>
                  <a:tcPr marL="114300" marR="114300" marT="114300" marB="114300">
                    <a:solidFill>
                      <a:srgbClr val="E5EDF5"/>
                    </a:solidFill>
                  </a:tcPr>
                </a:tc>
                <a:tc>
                  <a:txBody>
                    <a:bodyPr/>
                    <a:lstStyle/>
                    <a:p>
                      <a:r>
                        <a:rPr sz="1875" b="1">
                          <a:solidFill>
                            <a:srgbClr val="16324F"/>
                          </a:solidFill>
                          <a:latin typeface="DejaVu Sans"/>
                          <a:ea typeface="DejaVu Sans"/>
                          <a:cs typeface="DejaVu Sans"/>
                        </a:rPr>
                        <a:t>Optimal</a:t>
                      </a:r>
                    </a:p>
                    <a:p>
                      <a:r>
                        <a:rPr sz="1875" b="1">
                          <a:solidFill>
                            <a:srgbClr val="16324F"/>
                          </a:solidFill>
                          <a:latin typeface="DejaVu Sans"/>
                          <a:ea typeface="DejaVu Sans"/>
                          <a:cs typeface="DejaVu Sans"/>
                        </a:rPr>
                        <a:t>/50</a:t>
                      </a:r>
                    </a:p>
                  </a:txBody>
                  <a:tcPr marL="114300" marR="114300" marT="114300" marB="114300">
                    <a:solidFill>
                      <a:srgbClr val="E5EDF5"/>
                    </a:solidFill>
                  </a:tcPr>
                </a:tc>
                <a:tc>
                  <a:txBody>
                    <a:bodyPr/>
                    <a:lstStyle/>
                    <a:p>
                      <a:r>
                        <a:rPr sz="1875" b="1">
                          <a:solidFill>
                            <a:srgbClr val="16324F"/>
                          </a:solidFill>
                          <a:latin typeface="DejaVu Sans"/>
                          <a:ea typeface="DejaVu Sans"/>
                          <a:cs typeface="DejaVu Sans"/>
                        </a:rPr>
                        <a:t>Mean</a:t>
                      </a:r>
                    </a:p>
                    <a:p>
                      <a:r>
                        <a:rPr sz="1875" b="1">
                          <a:solidFill>
                            <a:srgbClr val="16324F"/>
                          </a:solidFill>
                          <a:latin typeface="DejaVu Sans"/>
                          <a:ea typeface="DejaVu Sans"/>
                          <a:cs typeface="DejaVu Sans"/>
                        </a:rPr>
                        <a:t>expansions</a:t>
                      </a:r>
                    </a:p>
                  </a:txBody>
                  <a:tcPr marL="114300" marR="114300" marT="114300" marB="114300">
                    <a:solidFill>
                      <a:srgbClr val="E5EDF5"/>
                    </a:solidFill>
                  </a:tcPr>
                </a:tc>
                <a:tc>
                  <a:txBody>
                    <a:bodyPr/>
                    <a:lstStyle/>
                    <a:p>
                      <a:r>
                        <a:rPr sz="1875" b="1">
                          <a:solidFill>
                            <a:srgbClr val="16324F"/>
                          </a:solidFill>
                          <a:latin typeface="DejaVu Sans"/>
                          <a:ea typeface="DejaVu Sans"/>
                          <a:cs typeface="DejaVu Sans"/>
                        </a:rPr>
                        <a:t>Mean</a:t>
                      </a:r>
                    </a:p>
                    <a:p>
                      <a:r>
                        <a:rPr sz="1875" b="1">
                          <a:solidFill>
                            <a:srgbClr val="16324F"/>
                          </a:solidFill>
                          <a:latin typeface="DejaVu Sans"/>
                          <a:ea typeface="DejaVu Sans"/>
                          <a:cs typeface="DejaVu Sans"/>
                        </a:rPr>
                        <a:t>gap %</a:t>
                      </a:r>
                    </a:p>
                  </a:txBody>
                  <a:tcPr marL="114300" marR="114300" marT="114300" marB="114300">
                    <a:solidFill>
                      <a:srgbClr val="E5EDF5"/>
                    </a:solidFill>
                  </a:tcPr>
                </a:tc>
                <a:tc>
                  <a:txBody>
                    <a:bodyPr/>
                    <a:lstStyle/>
                    <a:p>
                      <a:r>
                        <a:rPr sz="1875" b="1">
                          <a:solidFill>
                            <a:srgbClr val="16324F"/>
                          </a:solidFill>
                          <a:latin typeface="DejaVu Sans"/>
                          <a:ea typeface="DejaVu Sans"/>
                          <a:cs typeface="DejaVu Sans"/>
                        </a:rPr>
                        <a:t>Mean</a:t>
                      </a:r>
                    </a:p>
                    <a:p>
                      <a:r>
                        <a:rPr sz="1875" b="1">
                          <a:solidFill>
                            <a:srgbClr val="16324F"/>
                          </a:solidFill>
                          <a:latin typeface="DejaVu Sans"/>
                          <a:ea typeface="DejaVu Sans"/>
                          <a:cs typeface="DejaVu Sans"/>
                        </a:rPr>
                        <a:t>ms</a:t>
                      </a:r>
                    </a:p>
                  </a:txBody>
                  <a:tcPr marL="114300" marR="114300" marT="114300" marB="114300">
                    <a:solidFill>
                      <a:srgbClr val="E5EDF5"/>
                    </a:solidFill>
                  </a:tcPr>
                </a:tc>
              </a:tr>
              <a:tr h="539750">
                <a:tc>
                  <a:txBody>
                    <a:bodyPr/>
                    <a:lstStyle/>
                    <a:p>
                      <a:r>
                        <a:rPr sz="1875">
                          <a:solidFill>
                            <a:srgbClr val="16324F"/>
                          </a:solidFill>
                          <a:latin typeface="DejaVu Sans"/>
                          <a:ea typeface="DejaVu Sans"/>
                          <a:cs typeface="DejaVu Sans"/>
                        </a:rPr>
                        <a:t>UCS</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50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30.720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0.000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0.034938</a:t>
                      </a:r>
                    </a:p>
                  </a:txBody>
                  <a:tcPr marL="114300" marR="114300" marT="114300" marB="114300">
                    <a:solidFill>
                      <a:srgbClr val="FFFFFF"/>
                    </a:solidFill>
                  </a:tcPr>
                </a:tc>
              </a:tr>
              <a:tr h="539750">
                <a:tc>
                  <a:txBody>
                    <a:bodyPr/>
                    <a:lstStyle/>
                    <a:p>
                      <a:r>
                        <a:rPr sz="1875">
                          <a:solidFill>
                            <a:srgbClr val="16324F"/>
                          </a:solidFill>
                          <a:latin typeface="DejaVu Sans"/>
                          <a:ea typeface="DejaVu Sans"/>
                          <a:cs typeface="DejaVu Sans"/>
                        </a:rPr>
                        <a:t>Greedy Euclidean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29</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8.640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8.259</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0.012857</a:t>
                      </a:r>
                    </a:p>
                  </a:txBody>
                  <a:tcPr marL="114300" marR="114300" marT="114300" marB="114300">
                    <a:solidFill>
                      <a:srgbClr val="FFFFFF"/>
                    </a:solidFill>
                  </a:tcPr>
                </a:tc>
              </a:tr>
              <a:tr h="539750">
                <a:tc>
                  <a:txBody>
                    <a:bodyPr/>
                    <a:lstStyle/>
                    <a:p>
                      <a:r>
                        <a:rPr sz="1875">
                          <a:solidFill>
                            <a:srgbClr val="16324F"/>
                          </a:solidFill>
                          <a:latin typeface="DejaVu Sans"/>
                          <a:ea typeface="DejaVu Sans"/>
                          <a:cs typeface="DejaVu Sans"/>
                        </a:rPr>
                        <a:t>A* Euclidean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50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13.780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0.000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0.023924</a:t>
                      </a:r>
                    </a:p>
                  </a:txBody>
                  <a:tcPr marL="114300" marR="114300" marT="114300" marB="114300">
                    <a:solidFill>
                      <a:srgbClr val="FFFFFF"/>
                    </a:solidFill>
                  </a:tcPr>
                </a:tc>
              </a:tr>
              <a:tr h="539750">
                <a:tc>
                  <a:txBody>
                    <a:bodyPr/>
                    <a:lstStyle/>
                    <a:p>
                      <a:r>
                        <a:rPr sz="1875">
                          <a:solidFill>
                            <a:srgbClr val="16324F"/>
                          </a:solidFill>
                          <a:latin typeface="DejaVu Sans"/>
                          <a:ea typeface="DejaVu Sans"/>
                          <a:cs typeface="DejaVu Sans"/>
                        </a:rPr>
                        <a:t>A* Scaled Manhattan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50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16.480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0.000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0.030731</a:t>
                      </a:r>
                    </a:p>
                  </a:txBody>
                  <a:tcPr marL="114300" marR="114300" marT="114300" marB="114300">
                    <a:solidFill>
                      <a:srgbClr val="FFFFFF"/>
                    </a:solidFill>
                  </a:tcPr>
                </a:tc>
              </a:tr>
              <a:tr h="539750">
                <a:tc>
                  <a:txBody>
                    <a:bodyPr/>
                    <a:lstStyle/>
                    <a:p>
                      <a:r>
                        <a:rPr sz="1875">
                          <a:solidFill>
                            <a:srgbClr val="16324F"/>
                          </a:solidFill>
                          <a:latin typeface="DejaVu Sans"/>
                          <a:ea typeface="DejaVu Sans"/>
                          <a:cs typeface="DejaVu Sans"/>
                        </a:rPr>
                        <a:t>A* Raw Manhattan</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42</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10.520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0.160</a:t>
                      </a:r>
                    </a:p>
                  </a:txBody>
                  <a:tcPr marL="114300" marR="114300" marT="114300" marB="114300">
                    <a:solidFill>
                      <a:srgbClr val="FFFFFF"/>
                    </a:solidFill>
                  </a:tcPr>
                </a:tc>
                <a:tc>
                  <a:txBody>
                    <a:bodyPr/>
                    <a:lstStyle/>
                    <a:p>
                      <a:r>
                        <a:rPr sz="1875">
                          <a:solidFill>
                            <a:srgbClr val="16324F"/>
                          </a:solidFill>
                          <a:latin typeface="DejaVu Sans"/>
                          <a:ea typeface="DejaVu Sans"/>
                          <a:cs typeface="DejaVu Sans"/>
                        </a:rPr>
                        <a:t>0.018959</a:t>
                      </a:r>
                    </a:p>
                  </a:txBody>
                  <a:tcPr marL="114300" marR="114300" marT="1143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FDD7C55-4415-4292-AD81-FFD0438A34CF}"/>
              </a:ext>
            </a:extLst>
          </p:cNvPr>
          <p:cNvSpPr>
            <a:spLocks xmlns:a="http://schemas.openxmlformats.org/drawingml/2006/main" noGrp="1"/>
          </p:cNvSpPr>
          <p:nvPr/>
        </p:nvSpPr>
        <p:spPr>
          <a:xfrm xmlns:a="http://schemas.openxmlformats.org/drawingml/2006/main">
            <a:off x="609600" y="51816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324F"/>
                </a:solidFill>
                <a:latin typeface="DejaVu Sans"/>
                <a:ea typeface="DejaVu Sans"/>
                <a:cs typeface="DejaVu Sans"/>
              </a:defRPr>
            </a:defPPr>
          </a:lstStyle>
          <a:p xmlns:a="http://schemas.openxmlformats.org/drawingml/2006/main">
            <a:pPr>
              <a:buNone/>
              <a:defRPr sz="2250" b="1">
                <a:solidFill>
                  <a:srgbClr val="16324F"/>
                </a:solidFill>
                <a:latin typeface="DejaVu Sans"/>
                <a:ea typeface="DejaVu Sans"/>
                <a:cs typeface="DejaVu Sans"/>
              </a:defRPr>
            </a:pPr>
            <a:r>
              <a:rPr sz="2250" b="1">
                <a:solidFill>
                  <a:srgbClr val="16324F"/>
                </a:solidFill>
                <a:latin typeface="DejaVu Sans"/>
                <a:ea typeface="DejaVu Sans"/>
                <a:cs typeface="DejaVu Sans"/>
              </a:rPr>
              <a:t>Euclidean A*: 55.1% fewer expansions than UCS, with all 50 shortest costs.</a:t>
            </a:r>
          </a:p>
        </p:txBody>
      </p:sp>
      <p:sp>
        <p:nvSpPr>
          <p:cNvPr id="4" name="">
            <a:extLst xmlns:a="http://schemas.openxmlformats.org/drawingml/2006/main">
              <a:ext uri="{FF2B5EF4-FFF2-40B4-BE49-F238E27FC236}">
                <a16:creationId xmlns:a16="http://schemas.microsoft.com/office/drawing/2014/main" id="{E3270107-F9B6-4E50-B056-87740D3A6FFF}"/>
              </a:ext>
            </a:extLst>
          </p:cNvPr>
          <p:cNvSpPr>
            <a:spLocks xmlns:a="http://schemas.openxmlformats.org/drawingml/2006/main" noGrp="1"/>
          </p:cNvSpPr>
          <p:nvPr/>
        </p:nvSpPr>
        <p:spPr>
          <a:xfrm xmlns:a="http://schemas.openxmlformats.org/drawingml/2006/main">
            <a:off x="609600" y="5991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9"/>
                </a:solidFill>
                <a:latin typeface="DejaVu Sans"/>
                <a:ea typeface="DejaVu Sans"/>
                <a:cs typeface="DejaVu Sans"/>
              </a:defRPr>
            </a:defPPr>
          </a:lstStyle>
          <a:p xmlns:a="http://schemas.openxmlformats.org/drawingml/2006/main">
            <a:pPr>
              <a:buNone/>
              <a:defRPr sz="1725" b="0">
                <a:solidFill>
                  <a:srgbClr val="536579"/>
                </a:solidFill>
                <a:latin typeface="DejaVu Sans"/>
                <a:ea typeface="DejaVu Sans"/>
                <a:cs typeface="DejaVu Sans"/>
              </a:defRPr>
            </a:pPr>
            <a:r>
              <a:rPr sz="1725" b="0">
                <a:solidFill>
                  <a:srgbClr val="536579"/>
                </a:solidFill>
                <a:latin typeface="DejaVu Sans"/>
                <a:ea typeface="DejaVu Sans"/>
                <a:cs typeface="DejaVu Sans"/>
              </a:rPr>
              <a:t>Seed 42. Same pairs for every method. 21 repeats after one warm-up.</a:t>
            </a:r>
          </a:p>
          <a:p xmlns:a="http://schemas.openxmlformats.org/drawingml/2006/main">
            <a:pPr>
              <a:buNone/>
              <a:defRPr sz="1725" b="0">
                <a:solidFill>
                  <a:srgbClr val="536579"/>
                </a:solidFill>
                <a:latin typeface="DejaVu Sans"/>
                <a:ea typeface="DejaVu Sans"/>
                <a:cs typeface="DejaVu Sans"/>
              </a:defRPr>
            </a:pPr>
            <a:r>
              <a:rPr sz="1725" b="0">
                <a:solidFill>
                  <a:srgbClr val="536579"/>
                </a:solidFill>
                <a:latin typeface="DejaVu Sans"/>
                <a:ea typeface="DejaVu Sans"/>
                <a:cs typeface="DejaVu Sans"/>
              </a:rPr>
              <a:t>Mean of per-query median search times. Timings vary by machine.</a:t>
            </a:r>
          </a:p>
        </p:txBody>
      </p:sp>
    </p:spTree>
    <p:extLst>
      <p:ext uri="{BB962C8B-B14F-4D97-AF65-F5344CB8AC3E}">
        <p14:creationId xmlns:p14="http://schemas.microsoft.com/office/powerpoint/2010/main" val="2120207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F1410B-BED8-4C15-949F-BA16BCB91B3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latin typeface="DejaVu Sans"/>
                <a:ea typeface="DejaVu Sans"/>
                <a:cs typeface="DejaVu Sans"/>
              </a:defRPr>
            </a:defPPr>
          </a:lstStyle>
          <a:p xmlns:a="http://schemas.openxmlformats.org/drawingml/2006/main">
            <a:pPr>
              <a:buNone/>
              <a:defRPr sz="3300" b="1">
                <a:solidFill>
                  <a:srgbClr val="16324F"/>
                </a:solidFill>
                <a:latin typeface="DejaVu Sans"/>
                <a:ea typeface="DejaVu Sans"/>
                <a:cs typeface="DejaVu Sans"/>
              </a:defRPr>
            </a:pPr>
            <a:r>
              <a:rPr sz="3300" b="1">
                <a:solidFill>
                  <a:srgbClr val="16324F"/>
                </a:solidFill>
                <a:latin typeface="DejaVu Sans"/>
                <a:ea typeface="DejaVu Sans"/>
                <a:cs typeface="DejaVu Sans"/>
              </a:rPr>
              <a:t>Demonstration, verification and limitations</a:t>
            </a:r>
          </a:p>
        </p:txBody>
      </p:sp>
      <p:sp>
        <p:nvSpPr>
          <p:cNvPr id="2" name="">
            <a:extLst xmlns:a="http://schemas.openxmlformats.org/drawingml/2006/main">
              <a:ext uri="{FF2B5EF4-FFF2-40B4-BE49-F238E27FC236}">
                <a16:creationId xmlns:a16="http://schemas.microsoft.com/office/drawing/2014/main" id="{06C8028D-DEE7-492D-9183-F26D791D9FBA}"/>
              </a:ext>
            </a:extLst>
          </p:cNvPr>
          <p:cNvSpPr>
            <a:spLocks xmlns:a="http://schemas.openxmlformats.org/drawingml/2006/main" noGrp="1"/>
          </p:cNvSpPr>
          <p:nvPr/>
        </p:nvSpPr>
        <p:spPr>
          <a:xfrm xmlns:a="http://schemas.openxmlformats.org/drawingml/2006/main">
            <a:off x="609600" y="1571625"/>
            <a:ext cx="5905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324F"/>
                </a:solidFill>
                <a:latin typeface="DejaVu Sans"/>
                <a:ea typeface="DejaVu Sans"/>
                <a:cs typeface="DejaVu Sans"/>
              </a:defRPr>
            </a:defPPr>
          </a:lstStyle>
          <a:p xmlns:a="http://schemas.openxmlformats.org/drawingml/2006/main">
            <a:pPr>
              <a:buNone/>
              <a:defRPr sz="2250" b="1">
                <a:solidFill>
                  <a:srgbClr val="16324F"/>
                </a:solidFill>
                <a:latin typeface="DejaVu Sans"/>
                <a:ea typeface="DejaVu Sans"/>
                <a:cs typeface="DejaVu Sans"/>
              </a:defRPr>
            </a:pPr>
            <a:r>
              <a:rPr sz="2250" b="1">
                <a:solidFill>
                  <a:srgbClr val="16324F"/>
                </a:solidFill>
                <a:latin typeface="DejaVu Sans"/>
                <a:ea typeface="DejaVu Sans"/>
                <a:cs typeface="DejaVu Sans"/>
              </a:rPr>
              <a:t>Live demonstration</a:t>
            </a:r>
          </a:p>
          <a:p xmlns:a="http://schemas.openxmlformats.org/drawingml/2006/main">
            <a:pPr>
              <a:buNone/>
              <a:defRPr sz="2250" b="1">
                <a:solidFill>
                  <a:srgbClr val="16324F"/>
                </a:solidFill>
                <a:latin typeface="DejaVu Sans"/>
                <a:ea typeface="DejaVu Sans"/>
                <a:cs typeface="DejaVu Sans"/>
              </a:defRPr>
            </a:pPr>
            <a:r>
              <a:rPr sz="2250" b="1">
                <a:solidFill>
                  <a:srgbClr val="16324F"/>
                </a:solidFill>
                <a:latin typeface="DejaVu Sans"/>
                <a:ea typeface="DejaVu Sans"/>
                <a:cs typeface="DejaVu Sans"/>
              </a:rPr>
              <a:t>Choose any IDs from --list</a:t>
            </a:r>
          </a:p>
          <a:p xmlns:a="http://schemas.openxmlformats.org/drawingml/2006/main">
            <a:pPr>
              <a:buNone/>
              <a:defRPr sz="2250" b="1">
                <a:solidFill>
                  <a:srgbClr val="16324F"/>
                </a:solidFill>
                <a:latin typeface="DejaVu Sans"/>
                <a:ea typeface="DejaVu Sans"/>
                <a:cs typeface="DejaVu Sans"/>
              </a:defRPr>
            </a:pPr>
            <a:r>
              <a:rPr sz="2250" b="1">
                <a:solidFill>
                  <a:srgbClr val="16324F"/>
                </a:solidFill>
                <a:latin typeface="DejaVu Sans"/>
                <a:ea typeface="DejaVu Sans"/>
                <a:cs typeface="DejaVu Sans"/>
              </a:rPr>
              <a:t>Find a route, then close a road</a:t>
            </a:r>
          </a:p>
          <a:p xmlns:a="http://schemas.openxmlformats.org/drawingml/2006/main">
            <a:pPr>
              <a:buNone/>
              <a:defRPr sz="2250" b="1">
                <a:solidFill>
                  <a:srgbClr val="16324F"/>
                </a:solidFill>
                <a:latin typeface="DejaVu Sans"/>
                <a:ea typeface="DejaVu Sans"/>
                <a:cs typeface="DejaVu Sans"/>
              </a:defRPr>
            </a:pPr>
            <a:r>
              <a:rPr sz="2250" b="1">
                <a:solidFill>
                  <a:srgbClr val="16324F"/>
                </a:solidFill>
                <a:latin typeface="DejaVu Sans"/>
                <a:ea typeface="DejaVu Sans"/>
                <a:cs typeface="DejaVu Sans"/>
              </a:rPr>
              <a:t>Show same-node and unreachable cases</a:t>
            </a:r>
          </a:p>
        </p:txBody>
      </p:sp>
      <p:sp>
        <p:nvSpPr>
          <p:cNvPr id="3" name="">
            <a:extLst xmlns:a="http://schemas.openxmlformats.org/drawingml/2006/main">
              <a:ext uri="{FF2B5EF4-FFF2-40B4-BE49-F238E27FC236}">
                <a16:creationId xmlns:a16="http://schemas.microsoft.com/office/drawing/2014/main" id="{92248FC5-9D82-48C8-912F-C97DD9D26653}"/>
              </a:ext>
            </a:extLst>
          </p:cNvPr>
          <p:cNvSpPr>
            <a:spLocks xmlns:a="http://schemas.openxmlformats.org/drawingml/2006/main" noGrp="1"/>
          </p:cNvSpPr>
          <p:nvPr/>
        </p:nvSpPr>
        <p:spPr>
          <a:xfrm xmlns:a="http://schemas.openxmlformats.org/drawingml/2006/main">
            <a:off x="6915150" y="1571625"/>
            <a:ext cx="4667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24F"/>
                </a:solidFill>
                <a:latin typeface="DejaVu Sans"/>
                <a:ea typeface="DejaVu Sans"/>
                <a:cs typeface="DejaVu Sans"/>
              </a:defRPr>
            </a:defPPr>
          </a:lstStyle>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Independent checks</a:t>
            </a:r>
          </a:p>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13,520 campus searches</a:t>
            </a:r>
          </a:p>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980 random directed-graph checks</a:t>
            </a:r>
          </a:p>
          <a:p xmlns:a="http://schemas.openxmlformats.org/drawingml/2006/main">
            <a:pPr>
              <a:buNone/>
              <a:defRPr sz="2100" b="0">
                <a:solidFill>
                  <a:srgbClr val="16324F"/>
                </a:solidFill>
                <a:latin typeface="DejaVu Sans"/>
                <a:ea typeface="DejaVu Sans"/>
                <a:cs typeface="DejaVu Sans"/>
              </a:defRPr>
            </a:pPr>
            <a:r>
              <a:rPr sz="2100" b="0">
                <a:solidFill>
                  <a:srgbClr val="16324F"/>
                </a:solidFill>
                <a:latin typeface="DejaVu Sans"/>
                <a:ea typeface="DejaVu Sans"/>
                <a:cs typeface="DejaVu Sans"/>
              </a:rPr>
              <a:t>Heap, reopening and heuristic audit</a:t>
            </a:r>
          </a:p>
        </p:txBody>
      </p:sp>
      <p:sp>
        <p:nvSpPr>
          <p:cNvPr id="4" name="">
            <a:extLst xmlns:a="http://schemas.openxmlformats.org/drawingml/2006/main">
              <a:ext uri="{FF2B5EF4-FFF2-40B4-BE49-F238E27FC236}">
                <a16:creationId xmlns:a16="http://schemas.microsoft.com/office/drawing/2014/main" id="{069A3298-C770-4DC5-BB23-EBFEA7E234BD}"/>
              </a:ext>
            </a:extLst>
          </p:cNvPr>
          <p:cNvSpPr>
            <a:spLocks xmlns:a="http://schemas.openxmlformats.org/drawingml/2006/main" noGrp="1"/>
          </p:cNvSpPr>
          <p:nvPr/>
        </p:nvSpPr>
        <p:spPr>
          <a:xfrm xmlns:a="http://schemas.openxmlformats.org/drawingml/2006/main">
            <a:off x="609600" y="38576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324F"/>
                </a:solidFill>
                <a:latin typeface="DejaVu Sans"/>
                <a:ea typeface="DejaVu Sans"/>
                <a:cs typeface="DejaVu Sans"/>
              </a:defRPr>
            </a:defPPr>
          </a:lstStyle>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Limitations</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Approximate access points and illustrative distances</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No live GPS, crowd model or accessibility permissions</a:t>
            </a:r>
          </a:p>
          <a:p xmlns:a="http://schemas.openxmlformats.org/drawingml/2006/main">
            <a:pPr>
              <a:buNone/>
              <a:defRPr sz="2175" b="0">
                <a:solidFill>
                  <a:srgbClr val="16324F"/>
                </a:solidFill>
                <a:latin typeface="DejaVu Sans"/>
                <a:ea typeface="DejaVu Sans"/>
                <a:cs typeface="DejaVu Sans"/>
              </a:defRPr>
            </a:pPr>
            <a:r>
              <a:rPr sz="2175" b="0">
                <a:solidFill>
                  <a:srgbClr val="16324F"/>
                </a:solidFill>
                <a:latin typeface="DejaVu Sans"/>
                <a:ea typeface="DejaVu Sans"/>
                <a:cs typeface="DejaVu Sans"/>
              </a:rPr>
              <a:t>Confirm roads and calibrate scale on campus</a:t>
            </a:r>
          </a:p>
        </p:txBody>
      </p:sp>
      <p:sp>
        <p:nvSpPr>
          <p:cNvPr id="5" name="">
            <a:extLst xmlns:a="http://schemas.openxmlformats.org/drawingml/2006/main">
              <a:ext uri="{FF2B5EF4-FFF2-40B4-BE49-F238E27FC236}">
                <a16:creationId xmlns:a16="http://schemas.microsoft.com/office/drawing/2014/main" id="{A2587510-7B9A-466C-B205-DFE676397C66}"/>
              </a:ext>
            </a:extLst>
          </p:cNvPr>
          <p:cNvSpPr>
            <a:spLocks xmlns:a="http://schemas.openxmlformats.org/drawingml/2006/main" noGrp="1"/>
          </p:cNvSpPr>
          <p:nvPr/>
        </p:nvSpPr>
        <p:spPr>
          <a:xfrm xmlns:a="http://schemas.openxmlformats.org/drawingml/2006/main">
            <a:off x="609600" y="5810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9"/>
                </a:solidFill>
                <a:latin typeface="DejaVu Sans"/>
                <a:ea typeface="DejaVu Sans"/>
                <a:cs typeface="DejaVu Sans"/>
              </a:defRPr>
            </a:defPPr>
          </a:lstStyle>
          <a:p xmlns:a="http://schemas.openxmlformats.org/drawingml/2006/main">
            <a:pPr>
              <a:buNone/>
              <a:defRPr sz="1800" b="0">
                <a:solidFill>
                  <a:srgbClr val="536579"/>
                </a:solidFill>
                <a:latin typeface="DejaVu Sans"/>
                <a:ea typeface="DejaVu Sans"/>
                <a:cs typeface="DejaVu Sans"/>
              </a:defRPr>
            </a:pPr>
            <a:r>
              <a:rPr sz="1800" b="0">
                <a:solidFill>
                  <a:srgbClr val="536579"/>
                </a:solidFill>
                <a:latin typeface="DejaVu Sans"/>
                <a:ea typeface="DejaVu Sans"/>
                <a:cs typeface="DejaVu Sans"/>
              </a:rPr>
              <a:t>AI declaration: OpenAI Codex drafted code, map digitisation and documents.</a:t>
            </a:r>
          </a:p>
          <a:p xmlns:a="http://schemas.openxmlformats.org/drawingml/2006/main">
            <a:pPr>
              <a:buNone/>
              <a:defRPr sz="1800" b="0">
                <a:solidFill>
                  <a:srgbClr val="536579"/>
                </a:solidFill>
                <a:latin typeface="DejaVu Sans"/>
                <a:ea typeface="DejaVu Sans"/>
                <a:cs typeface="DejaVu Sans"/>
              </a:defRPr>
            </a:pPr>
            <a:r>
              <a:rPr sz="1800" b="0">
                <a:solidFill>
                  <a:srgbClr val="536579"/>
                </a:solidFill>
                <a:latin typeface="DejaVu Sans"/>
                <a:ea typeface="DejaVu Sans"/>
                <a:cs typeface="DejaVu Sans"/>
              </a:rPr>
              <a:t>No external AI API performs the search. Each member must review and understand the core.</a:t>
            </a:r>
          </a:p>
        </p:txBody>
      </p:sp>
    </p:spTree>
    <p:extLst>
      <p:ext uri="{BB962C8B-B14F-4D97-AF65-F5344CB8AC3E}">
        <p14:creationId xmlns:p14="http://schemas.microsoft.com/office/powerpoint/2010/main" val="2000555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2026-10-13T03:58:26.6320000Z</dcterms:created>
  <dcterms:modified xsi:type="dcterms:W3CDTF">2026-10-13T03:58:26.6320000Z</dcterms:modified>
</coreProperties>
</file>